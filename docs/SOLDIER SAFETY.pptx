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8" r:id="rId3"/>
    <p:sldId id="258" r:id="rId4"/>
    <p:sldId id="259" r:id="rId5"/>
    <p:sldId id="269" r:id="rId6"/>
    <p:sldId id="260" r:id="rId7"/>
    <p:sldId id="266" r:id="rId8"/>
    <p:sldId id="274" r:id="rId9"/>
    <p:sldId id="275" r:id="rId10"/>
    <p:sldId id="270" r:id="rId11"/>
    <p:sldId id="272" r:id="rId12"/>
    <p:sldId id="273" r:id="rId13"/>
    <p:sldId id="271" r:id="rId14"/>
    <p:sldId id="27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49DF5-6E69-4F39-B0A9-0E0EA804ABB6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41BAE-FFB2-4F37-B1B1-1FE73C327A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40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D5553-3F6E-811E-1613-8E3A1C574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93662-B0D4-C264-F0B3-4CB10374C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EDB0C-E181-4D9F-D429-8BAE6B67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1DD9-F6D3-974C-0EBE-B35C29BA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D5E6-A50D-ED0C-6D18-CA5664C7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37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E15E-50D3-916D-BE47-011439B8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CD679-8A24-56B3-B678-6408FC464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7B47C-9AC8-ED65-9868-7338C3BF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11B45-57DC-6A9C-D90D-67E75C321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E0E11-1BF4-EBF1-B553-26FCFE745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671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7BAB4-E60B-1D89-5046-D2A3B8452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AC4D-54BA-5799-DFB5-687FF3662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66C2D-7866-47F4-CB4B-6C9240FD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DAECA-FF11-C8A4-255B-5B810697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E34AD-A60B-A204-45A3-CA2A93DC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48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0CFF-6126-3CBA-0A5C-4F6016FEE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E3EA6-2165-8C3F-0DB8-1CF7C6737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71FD0-2C6E-251B-F743-00EA8131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CE1C0-DBCA-66D6-5A00-E89D6AA7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8A120-743C-9676-836E-B45B7956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0942C-8480-65FF-6F4C-8CC96A28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73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12E9-6DC9-D3B5-48AB-1BAFE247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A06DB-643F-8CCC-327B-C3D636DFC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62EF7-7AB3-DC49-F78E-8A5DE7A6E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F3B60F-E4B6-A869-2CEF-B4D1841DF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8EA2C-84F2-F577-AA51-9ED551F827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43FD93-0153-1162-3FC9-455ADC3C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D1BCE2-043C-AE64-44E6-09AA3F6C9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EE437-8FBB-FA09-7460-B2B26CC7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1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1419-2ED2-9F17-F07A-DFE1BAE0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8A0E5-0459-2466-A57F-2CB96ADC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69CA2E-4A94-0514-4AB2-CCC7BD288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DAB4C-F7DC-D1F7-E154-32A2668F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67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A0AE1-35DC-6692-3B19-F1442F3C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EAA8F-719D-4DDC-187A-8374A7CB0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9D9F2-EA82-C5F3-47BD-5166540F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93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6DBF-25B8-168C-975D-A42AC552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63963-4656-9B14-C580-A70830A58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6F908-399E-A674-CD92-28AB010E5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66398-EB87-9C3E-6B8C-05637E15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0972-8564-A840-8183-E1CF73861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B85BC-E910-9DF2-1E7B-DBD85395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93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F04B-504C-682D-23D1-5831873B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03AF8-6B76-268F-FA14-983B8ACAF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F3F5B2-31A5-AA89-A123-7C29296A9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992A6-3143-D10B-79C0-2F9C2220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8D4D3-91DB-FB67-8C7D-936C7BC56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AB16B-1DD8-A1F9-0558-5003567F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8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3100-07B9-3C59-CEEE-8F3E333CD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65EB4C-513F-FF1F-3CD3-A4BBEBF27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6F309-2233-6153-392D-8B5298BA7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7D0FD-8896-9BB7-717A-88099374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BD77A-4030-D981-0BD7-F97D013C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678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F6454-CC9D-2E3A-F38D-E4B1A7596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54F87-7D77-2D77-BB7C-006190800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D18E0-A6CA-336B-2673-410AE555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53BFE-B3F0-F059-BF20-6160C2AE1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D49EE-2EFF-7785-53DB-4E36EFDA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66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109D71-1102-0784-3E90-EDFDD2E7B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37D10-7201-202B-6602-887960E59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DBED5-D031-DEED-3559-342988953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1BECC-B683-4816-9AA5-742BC87AB3BF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44132-12F2-2EF9-BF59-127106692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78744-05A1-3A36-D02B-C9F7B14B9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394E-416F-480C-AC78-4983744B17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980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D98A11-DAF2-0C26-DAD8-3F116FA34B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708" y="2016396"/>
            <a:ext cx="11454581" cy="156988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1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Lab – II (24ME411)</a:t>
            </a:r>
          </a:p>
          <a:p>
            <a:pPr>
              <a:lnSpc>
                <a:spcPct val="120000"/>
              </a:lnSpc>
            </a:pPr>
            <a:r>
              <a:rPr lang="en-IN" sz="1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en-IN" sz="1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9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LOW-POWER SMART SOLDIER HEALTH MONITORING SYSTEM USING LoRa COMMUNICATION</a:t>
            </a:r>
            <a:r>
              <a:rPr lang="en-US" dirty="0"/>
              <a:t>	</a:t>
            </a:r>
          </a:p>
        </p:txBody>
      </p:sp>
      <p:pic>
        <p:nvPicPr>
          <p:cNvPr id="4" name="Google Shape;87;p1">
            <a:extLst>
              <a:ext uri="{FF2B5EF4-FFF2-40B4-BE49-F238E27FC236}">
                <a16:creationId xmlns:a16="http://schemas.microsoft.com/office/drawing/2014/main" id="{2ADB5B54-5604-A6F6-F996-C0D64940333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626" y="372177"/>
            <a:ext cx="855676" cy="1317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703B0-F03E-BB69-DE05-CA793A20A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23" y="509377"/>
            <a:ext cx="855676" cy="117987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7C06796-5ADE-782B-8781-BF340A692966}"/>
              </a:ext>
            </a:extLst>
          </p:cNvPr>
          <p:cNvSpPr txBox="1">
            <a:spLocks/>
          </p:cNvSpPr>
          <p:nvPr/>
        </p:nvSpPr>
        <p:spPr>
          <a:xfrm>
            <a:off x="2000864" y="245771"/>
            <a:ext cx="8190271" cy="156988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ambria"/>
                <a:ea typeface="Cambria"/>
                <a:cs typeface="Cambria"/>
                <a:sym typeface="Cambria"/>
              </a:rPr>
              <a:t>R.M.K. ENGINEERING COLLEGE</a:t>
            </a:r>
            <a:br>
              <a:rPr lang="en-US" sz="4000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>(AN AUTONOMOUS INSTITUTION)</a:t>
            </a:r>
            <a:br>
              <a:rPr lang="en-US" sz="4000" dirty="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000" b="1" dirty="0">
                <a:latin typeface="Cambria"/>
                <a:ea typeface="Cambria"/>
                <a:cs typeface="Cambria"/>
                <a:sym typeface="Cambria"/>
              </a:rPr>
              <a:t>Department of Electronics and Communication Engineering</a:t>
            </a:r>
            <a:endParaRPr lang="en-IN" sz="2800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FF469C4-16F5-6DB9-0AC6-9BB865CAF196}"/>
              </a:ext>
            </a:extLst>
          </p:cNvPr>
          <p:cNvSpPr txBox="1">
            <a:spLocks/>
          </p:cNvSpPr>
          <p:nvPr/>
        </p:nvSpPr>
        <p:spPr>
          <a:xfrm>
            <a:off x="368708" y="4488428"/>
            <a:ext cx="5496232" cy="1730512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</a:pPr>
            <a:r>
              <a:rPr lang="en-US" sz="4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Soldier Safety Research Group (SSRG</a:t>
            </a:r>
            <a:r>
              <a:rPr lang="en-US" sz="4800" dirty="0"/>
              <a:t>)</a:t>
            </a:r>
          </a:p>
          <a:p>
            <a:pPr algn="l">
              <a:lnSpc>
                <a:spcPct val="170000"/>
              </a:lnSpc>
            </a:pPr>
            <a:r>
              <a:rPr lang="en-US" sz="4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Vijayalakshmi S, M.E, 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Professor</a:t>
            </a:r>
          </a:p>
          <a:p>
            <a:endParaRPr lang="en-US" dirty="0"/>
          </a:p>
          <a:p>
            <a:r>
              <a:rPr lang="en-US" dirty="0"/>
              <a:t>	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3BCECFB-7B11-3C72-A514-C82EDA8C3A7A}"/>
              </a:ext>
            </a:extLst>
          </p:cNvPr>
          <p:cNvSpPr txBox="1">
            <a:spLocks/>
          </p:cNvSpPr>
          <p:nvPr/>
        </p:nvSpPr>
        <p:spPr>
          <a:xfrm>
            <a:off x="6410633" y="4488428"/>
            <a:ext cx="5496232" cy="17305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SESHASAAI MA (Team leader) - 111724104084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 MANIKANTA K - 111724104068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KAMALESHWARAN M - 111724104069</a:t>
            </a:r>
          </a:p>
        </p:txBody>
      </p:sp>
    </p:spTree>
    <p:extLst>
      <p:ext uri="{BB962C8B-B14F-4D97-AF65-F5344CB8AC3E}">
        <p14:creationId xmlns:p14="http://schemas.microsoft.com/office/powerpoint/2010/main" val="58035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474D-A6F3-2E23-FE61-280C8E45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961" y="273459"/>
            <a:ext cx="2969342" cy="490127"/>
          </a:xfrm>
        </p:spPr>
        <p:txBody>
          <a:bodyPr>
            <a:norm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9049E-E52C-FBD1-50CF-9A01D10E00CB}"/>
              </a:ext>
            </a:extLst>
          </p:cNvPr>
          <p:cNvSpPr txBox="1"/>
          <p:nvPr/>
        </p:nvSpPr>
        <p:spPr>
          <a:xfrm>
            <a:off x="2123766" y="1803404"/>
            <a:ext cx="96454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low-cost, low-power smart soldier safety and health monitoring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operating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and border regions without internet connectivity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soldier location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emergency situations.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inactivity or motion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motion sensor.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health risk prediction using simple ML model (Edge-Based Decision Tree).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multiple sensor inputs locally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false alerts.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LoRa-based communication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long-range, low-power data transmission.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minimize battery consumption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transmitting data only during abnormal or emergency conditions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 monitor vital health parameters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prototype under ₹5,000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academic and field-level research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ED24F-2329-8827-8C72-6E418522462F}"/>
              </a:ext>
            </a:extLst>
          </p:cNvPr>
          <p:cNvSpPr txBox="1"/>
          <p:nvPr/>
        </p:nvSpPr>
        <p:spPr>
          <a:xfrm>
            <a:off x="1101212" y="13417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0EA0BB-3F7E-E6FA-11E4-B854CFDB73AA}"/>
              </a:ext>
            </a:extLst>
          </p:cNvPr>
          <p:cNvSpPr txBox="1"/>
          <p:nvPr/>
        </p:nvSpPr>
        <p:spPr>
          <a:xfrm>
            <a:off x="1101212" y="288724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</a:t>
            </a:r>
          </a:p>
        </p:txBody>
      </p:sp>
    </p:spTree>
    <p:extLst>
      <p:ext uri="{BB962C8B-B14F-4D97-AF65-F5344CB8AC3E}">
        <p14:creationId xmlns:p14="http://schemas.microsoft.com/office/powerpoint/2010/main" val="2186561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10A8A-352E-DAC1-F658-3EF77AE33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40" y="203489"/>
            <a:ext cx="6204154" cy="608114"/>
          </a:xfrm>
        </p:spPr>
        <p:txBody>
          <a:bodyPr>
            <a:no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CF405-5FF8-C4BA-959F-777AD1242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978" y="4241135"/>
            <a:ext cx="6174661" cy="2130168"/>
          </a:xfrm>
        </p:spPr>
        <p:txBody>
          <a:bodyPr>
            <a:no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 heart rate monitoring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 &amp; inactivity detection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GPS-based emergency location tracking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Temperature &amp; humidity monitoring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Event-based alert transmission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Long-range LoRa communication (5–10 km)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 power consumption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883A6-31D3-4FA2-E791-1788B094E82B}"/>
              </a:ext>
            </a:extLst>
          </p:cNvPr>
          <p:cNvSpPr txBox="1"/>
          <p:nvPr/>
        </p:nvSpPr>
        <p:spPr>
          <a:xfrm>
            <a:off x="1700979" y="985643"/>
            <a:ext cx="57027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wearable embedded system that monitors: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conditions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decision making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alerts via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during emergencies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false alarms and power consumption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FCBD2-17C1-2389-BBB9-16A2677CF93B}"/>
              </a:ext>
            </a:extLst>
          </p:cNvPr>
          <p:cNvSpPr txBox="1"/>
          <p:nvPr/>
        </p:nvSpPr>
        <p:spPr>
          <a:xfrm>
            <a:off x="501445" y="35434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SYSTEM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66E48-7DC5-C9D7-C726-5F196A650448}"/>
              </a:ext>
            </a:extLst>
          </p:cNvPr>
          <p:cNvSpPr txBox="1"/>
          <p:nvPr/>
        </p:nvSpPr>
        <p:spPr>
          <a:xfrm>
            <a:off x="2610465" y="133372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/ inactivity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C0D02F34-E7A2-0FB9-51C6-908FD68440F1}"/>
              </a:ext>
            </a:extLst>
          </p:cNvPr>
          <p:cNvSpPr/>
          <p:nvPr/>
        </p:nvSpPr>
        <p:spPr>
          <a:xfrm>
            <a:off x="6977652" y="1140542"/>
            <a:ext cx="4988209" cy="523076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805253A4-6FE9-4604-CDA7-6CD68193B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462" y="1742752"/>
            <a:ext cx="1669948" cy="166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0CDF7899-79E6-760D-6310-DE0820B08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203" y="1742752"/>
            <a:ext cx="1669948" cy="166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>
            <a:extLst>
              <a:ext uri="{FF2B5EF4-FFF2-40B4-BE49-F238E27FC236}">
                <a16:creationId xmlns:a16="http://schemas.microsoft.com/office/drawing/2014/main" id="{12A2FAD8-E782-E027-BD8C-C96802DC6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782" y="4047510"/>
            <a:ext cx="1669948" cy="166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F1E400-15B5-E7EC-2705-08B40785AC7D}"/>
              </a:ext>
            </a:extLst>
          </p:cNvPr>
          <p:cNvSpPr txBox="1"/>
          <p:nvPr/>
        </p:nvSpPr>
        <p:spPr>
          <a:xfrm>
            <a:off x="9113186" y="507546"/>
            <a:ext cx="11098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SDG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5154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F9264-C70B-5223-4E0F-DF693482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A44895-F863-A369-9470-3BE3133AD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297" y="154780"/>
            <a:ext cx="3519949" cy="550926"/>
          </a:xfrm>
        </p:spPr>
        <p:txBody>
          <a:bodyPr>
            <a:norm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NOT GSM?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10C5B8-35EC-8446-822E-EEDF9B3662B0}"/>
              </a:ext>
            </a:extLst>
          </p:cNvPr>
          <p:cNvSpPr txBox="1">
            <a:spLocks/>
          </p:cNvSpPr>
          <p:nvPr/>
        </p:nvSpPr>
        <p:spPr>
          <a:xfrm>
            <a:off x="609600" y="414441"/>
            <a:ext cx="5860026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2E5D25-26AC-7FF4-D4DB-46F8E3CD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01108E-7B2C-80FC-2B25-49C02B858CF4}"/>
              </a:ext>
            </a:extLst>
          </p:cNvPr>
          <p:cNvSpPr txBox="1"/>
          <p:nvPr/>
        </p:nvSpPr>
        <p:spPr>
          <a:xfrm>
            <a:off x="540774" y="3233505"/>
            <a:ext cx="8168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HEART RATE VARIATION HANDLING</a:t>
            </a:r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5AF46FB8-5A5E-F06F-8314-8FF27D66F7A5}"/>
              </a:ext>
            </a:extLst>
          </p:cNvPr>
          <p:cNvSpPr/>
          <p:nvPr/>
        </p:nvSpPr>
        <p:spPr>
          <a:xfrm>
            <a:off x="905222" y="3984124"/>
            <a:ext cx="3329368" cy="204184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rate varies due to: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differences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  <a:p>
            <a:pPr algn="ctr"/>
            <a:endParaRPr lang="en-IN" dirty="0"/>
          </a:p>
        </p:txBody>
      </p: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6C7AA17C-01C0-BDD0-0587-D0B50B52BA68}"/>
              </a:ext>
            </a:extLst>
          </p:cNvPr>
          <p:cNvSpPr/>
          <p:nvPr/>
        </p:nvSpPr>
        <p:spPr>
          <a:xfrm>
            <a:off x="4234590" y="1151939"/>
            <a:ext cx="3798365" cy="187092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Vulnerable to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Jamming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No-signal border regions</a:t>
            </a:r>
          </a:p>
          <a:p>
            <a:pPr algn="ctr"/>
            <a:endParaRPr lang="en-IN" dirty="0"/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572E4A79-DD80-AB63-B2AD-A18F363DA60E}"/>
              </a:ext>
            </a:extLst>
          </p:cNvPr>
          <p:cNvSpPr/>
          <p:nvPr/>
        </p:nvSpPr>
        <p:spPr>
          <a:xfrm>
            <a:off x="884902" y="1151940"/>
            <a:ext cx="3349687" cy="187092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 requires: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Licensed spectrum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 subscription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Network availability</a:t>
            </a:r>
          </a:p>
          <a:p>
            <a:pPr algn="ctr"/>
            <a:endParaRPr lang="en-IN" dirty="0"/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EB1127CA-059E-EE66-F038-B70F54E8C09F}"/>
              </a:ext>
            </a:extLst>
          </p:cNvPr>
          <p:cNvSpPr/>
          <p:nvPr/>
        </p:nvSpPr>
        <p:spPr>
          <a:xfrm>
            <a:off x="8032955" y="1148154"/>
            <a:ext cx="3880135" cy="187470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 advantages: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SIM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internet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ISM band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&amp; reliable</a:t>
            </a:r>
          </a:p>
          <a:p>
            <a:pPr algn="ctr"/>
            <a:endParaRPr lang="en-IN" dirty="0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D376F9EB-4C89-F155-83FB-BE4EF41077F5}"/>
              </a:ext>
            </a:extLst>
          </p:cNvPr>
          <p:cNvSpPr/>
          <p:nvPr/>
        </p:nvSpPr>
        <p:spPr>
          <a:xfrm>
            <a:off x="4234590" y="3984125"/>
            <a:ext cx="3798365" cy="203641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endParaRPr lang="en-US" altLang="en-US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rate + Temperature + Humidity correlation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ranges instead of fixed values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529E3E48-4F6C-9E96-72DE-7EAFF84082BF}"/>
              </a:ext>
            </a:extLst>
          </p:cNvPr>
          <p:cNvSpPr/>
          <p:nvPr/>
        </p:nvSpPr>
        <p:spPr>
          <a:xfrm>
            <a:off x="8032955" y="3974911"/>
            <a:ext cx="3880135" cy="204184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Panic / abnormal condition detected when:</a:t>
            </a:r>
            <a:endParaRPr lang="en-US" alt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abnormal + high temperature 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abnormal + inactivity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980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42FA2-8BFA-5FFA-F275-7BAF6969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E6A64E-F47D-EF21-F83C-7C42AE58D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4297" y="154780"/>
            <a:ext cx="4650658" cy="550926"/>
          </a:xfrm>
        </p:spPr>
        <p:txBody>
          <a:bodyPr>
            <a:norm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MOTION  VS  LOCATION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E79D979-1807-B938-0FA5-0DD0FC81B5A9}"/>
              </a:ext>
            </a:extLst>
          </p:cNvPr>
          <p:cNvSpPr txBox="1">
            <a:spLocks/>
          </p:cNvSpPr>
          <p:nvPr/>
        </p:nvSpPr>
        <p:spPr>
          <a:xfrm>
            <a:off x="609600" y="414441"/>
            <a:ext cx="5860026" cy="477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7D00E4C-2BB4-3FC1-6CC8-FAE4D13F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E77B4C-1AC6-931D-A3F4-8F91E38432D2}"/>
              </a:ext>
            </a:extLst>
          </p:cNvPr>
          <p:cNvSpPr txBox="1"/>
          <p:nvPr/>
        </p:nvSpPr>
        <p:spPr>
          <a:xfrm>
            <a:off x="540774" y="3233505"/>
            <a:ext cx="8168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EDGE-BASED DECISION TREE (SIMPLE ML)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Flowchart: Process 40">
            <a:extLst>
              <a:ext uri="{FF2B5EF4-FFF2-40B4-BE49-F238E27FC236}">
                <a16:creationId xmlns:a16="http://schemas.microsoft.com/office/drawing/2014/main" id="{06E69339-61A7-E37D-D13D-89DDB1AEEDD4}"/>
              </a:ext>
            </a:extLst>
          </p:cNvPr>
          <p:cNvSpPr/>
          <p:nvPr/>
        </p:nvSpPr>
        <p:spPr>
          <a:xfrm>
            <a:off x="905222" y="3984124"/>
            <a:ext cx="3329368" cy="204184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Heart rate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status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duration</a:t>
            </a:r>
          </a:p>
          <a:p>
            <a:pPr algn="ctr"/>
            <a:endParaRPr lang="en-IN" dirty="0"/>
          </a:p>
        </p:txBody>
      </p:sp>
      <p:sp>
        <p:nvSpPr>
          <p:cNvPr id="42" name="Flowchart: Process 41">
            <a:extLst>
              <a:ext uri="{FF2B5EF4-FFF2-40B4-BE49-F238E27FC236}">
                <a16:creationId xmlns:a16="http://schemas.microsoft.com/office/drawing/2014/main" id="{FF0F76FC-C4A1-F21A-801E-DDD625F866F3}"/>
              </a:ext>
            </a:extLst>
          </p:cNvPr>
          <p:cNvSpPr/>
          <p:nvPr/>
        </p:nvSpPr>
        <p:spPr>
          <a:xfrm>
            <a:off x="4234590" y="1151939"/>
            <a:ext cx="3798365" cy="187092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  Sensor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movement patterns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inactivity, falls, unconsciousness</a:t>
            </a:r>
          </a:p>
          <a:p>
            <a:pPr algn="ctr"/>
            <a:endParaRPr lang="en-IN" dirty="0"/>
          </a:p>
        </p:txBody>
      </p:sp>
      <p:sp>
        <p:nvSpPr>
          <p:cNvPr id="43" name="Flowchart: Process 42">
            <a:extLst>
              <a:ext uri="{FF2B5EF4-FFF2-40B4-BE49-F238E27FC236}">
                <a16:creationId xmlns:a16="http://schemas.microsoft.com/office/drawing/2014/main" id="{F11B23B5-CC61-D112-22B8-609072CB20EC}"/>
              </a:ext>
            </a:extLst>
          </p:cNvPr>
          <p:cNvSpPr/>
          <p:nvPr/>
        </p:nvSpPr>
        <p:spPr>
          <a:xfrm>
            <a:off x="884902" y="1151940"/>
            <a:ext cx="3349687" cy="187092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soldier is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detect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31BCB14D-55EB-E055-7505-83A0E2330833}"/>
              </a:ext>
            </a:extLst>
          </p:cNvPr>
          <p:cNvSpPr/>
          <p:nvPr/>
        </p:nvSpPr>
        <p:spPr>
          <a:xfrm>
            <a:off x="8032955" y="1148154"/>
            <a:ext cx="3880135" cy="1874705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Soldier standing guard ≠ inactivity: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Micro-movements detected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 only if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prolonged abnormal inactivity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45" name="Flowchart: Process 44">
            <a:extLst>
              <a:ext uri="{FF2B5EF4-FFF2-40B4-BE49-F238E27FC236}">
                <a16:creationId xmlns:a16="http://schemas.microsoft.com/office/drawing/2014/main" id="{F36EA908-FB28-0F5B-71B3-DFEDD7E339E0}"/>
              </a:ext>
            </a:extLst>
          </p:cNvPr>
          <p:cNvSpPr/>
          <p:nvPr/>
        </p:nvSpPr>
        <p:spPr>
          <a:xfrm>
            <a:off x="4234590" y="3984125"/>
            <a:ext cx="3798365" cy="203641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endParaRPr lang="en-US" altLang="en-US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</a:p>
          <a:p>
            <a:pPr algn="ctr"/>
            <a:endParaRPr lang="en-IN" dirty="0"/>
          </a:p>
        </p:txBody>
      </p: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1DAE435D-0841-9968-ADF5-5D24A690817A}"/>
              </a:ext>
            </a:extLst>
          </p:cNvPr>
          <p:cNvSpPr/>
          <p:nvPr/>
        </p:nvSpPr>
        <p:spPr>
          <a:xfrm>
            <a:off x="8032955" y="3974911"/>
            <a:ext cx="3880135" cy="2041847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rule-based Decision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fully on ESP32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cloud or heavy ML required</a:t>
            </a:r>
          </a:p>
        </p:txBody>
      </p:sp>
    </p:spTree>
    <p:extLst>
      <p:ext uri="{BB962C8B-B14F-4D97-AF65-F5344CB8AC3E}">
        <p14:creationId xmlns:p14="http://schemas.microsoft.com/office/powerpoint/2010/main" val="215359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DA80-C739-51AF-5DF1-36EFA543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80BED-0DA3-8BA9-6C37-66ED1E772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79" y="200728"/>
            <a:ext cx="8937524" cy="477837"/>
          </a:xfrm>
        </p:spPr>
        <p:txBody>
          <a:bodyPr>
            <a:no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IF SOLDIER IS IN REST STATE/SLEEPING?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2091C-5770-F6E3-0BE3-A5282C82A41B}"/>
              </a:ext>
            </a:extLst>
          </p:cNvPr>
          <p:cNvSpPr txBox="1"/>
          <p:nvPr/>
        </p:nvSpPr>
        <p:spPr>
          <a:xfrm>
            <a:off x="3303639" y="822677"/>
            <a:ext cx="768882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Sleeping soldier: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heart 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movement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triggered only if: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motion + abnormal HR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motion beyond allowed guard time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panic switch not used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false alerts during resting periods.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6CAACA-0242-C667-1FD0-DEB850DC4A68}"/>
              </a:ext>
            </a:extLst>
          </p:cNvPr>
          <p:cNvSpPr txBox="1"/>
          <p:nvPr/>
        </p:nvSpPr>
        <p:spPr>
          <a:xfrm>
            <a:off x="614515" y="385011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WHY THIS IS UNIQUE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99D153-4B14-5596-E7EC-6E351B4D8C75}"/>
              </a:ext>
            </a:extLst>
          </p:cNvPr>
          <p:cNvSpPr txBox="1"/>
          <p:nvPr/>
        </p:nvSpPr>
        <p:spPr>
          <a:xfrm>
            <a:off x="3303639" y="4538441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unique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lies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Edge-based intelligence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LoRa-based decentralization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power, cost, reliability, and context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8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F01E0B3-E58A-88C4-8F91-6877D1552544}"/>
              </a:ext>
            </a:extLst>
          </p:cNvPr>
          <p:cNvGraphicFramePr>
            <a:graphicFrameLocks noGrp="1"/>
          </p:cNvGraphicFramePr>
          <p:nvPr/>
        </p:nvGraphicFramePr>
        <p:xfrm>
          <a:off x="6744929" y="3555890"/>
          <a:ext cx="4599039" cy="1336149"/>
        </p:xfrm>
        <a:graphic>
          <a:graphicData uri="http://schemas.openxmlformats.org/drawingml/2006/table">
            <a:tbl>
              <a:tblPr/>
              <a:tblGrid>
                <a:gridCol w="4599039">
                  <a:extLst>
                    <a:ext uri="{9D8B030D-6E8A-4147-A177-3AD203B41FA5}">
                      <a16:colId xmlns:a16="http://schemas.microsoft.com/office/drawing/2014/main" val="2485452745"/>
                    </a:ext>
                  </a:extLst>
                </a:gridCol>
              </a:tblGrid>
              <a:tr h="13361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32014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6E77C4-3DE8-4B48-EE98-4C2D37757ADA}"/>
              </a:ext>
            </a:extLst>
          </p:cNvPr>
          <p:cNvGraphicFramePr>
            <a:graphicFrameLocks noGrp="1"/>
          </p:cNvGraphicFramePr>
          <p:nvPr/>
        </p:nvGraphicFramePr>
        <p:xfrm>
          <a:off x="1201995" y="3772695"/>
          <a:ext cx="3379839" cy="365760"/>
        </p:xfrm>
        <a:graphic>
          <a:graphicData uri="http://schemas.openxmlformats.org/drawingml/2006/table">
            <a:tbl>
              <a:tblPr/>
              <a:tblGrid>
                <a:gridCol w="3379839">
                  <a:extLst>
                    <a:ext uri="{9D8B030D-6E8A-4147-A177-3AD203B41FA5}">
                      <a16:colId xmlns:a16="http://schemas.microsoft.com/office/drawing/2014/main" val="16078478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864947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2ED56D3-7912-8DAB-2DFB-14AD663A7BCC}"/>
              </a:ext>
            </a:extLst>
          </p:cNvPr>
          <p:cNvGraphicFramePr>
            <a:graphicFrameLocks noGrp="1"/>
          </p:cNvGraphicFramePr>
          <p:nvPr/>
        </p:nvGraphicFramePr>
        <p:xfrm>
          <a:off x="1201994" y="4756218"/>
          <a:ext cx="3016045" cy="365760"/>
        </p:xfrm>
        <a:graphic>
          <a:graphicData uri="http://schemas.openxmlformats.org/drawingml/2006/table">
            <a:tbl>
              <a:tblPr/>
              <a:tblGrid>
                <a:gridCol w="3016045">
                  <a:extLst>
                    <a:ext uri="{9D8B030D-6E8A-4147-A177-3AD203B41FA5}">
                      <a16:colId xmlns:a16="http://schemas.microsoft.com/office/drawing/2014/main" val="28414192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531246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AA23B82-674B-45B0-1DBD-6043E1143FC1}"/>
              </a:ext>
            </a:extLst>
          </p:cNvPr>
          <p:cNvGraphicFramePr>
            <a:graphicFrameLocks noGrp="1"/>
          </p:cNvGraphicFramePr>
          <p:nvPr/>
        </p:nvGraphicFramePr>
        <p:xfrm>
          <a:off x="6803922" y="4756218"/>
          <a:ext cx="4481052" cy="335280"/>
        </p:xfrm>
        <a:graphic>
          <a:graphicData uri="http://schemas.openxmlformats.org/drawingml/2006/table">
            <a:tbl>
              <a:tblPr/>
              <a:tblGrid>
                <a:gridCol w="4481052">
                  <a:extLst>
                    <a:ext uri="{9D8B030D-6E8A-4147-A177-3AD203B41FA5}">
                      <a16:colId xmlns:a16="http://schemas.microsoft.com/office/drawing/2014/main" val="3154717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866258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562CE0B-9092-7F5F-6AD1-B941520E0144}"/>
              </a:ext>
            </a:extLst>
          </p:cNvPr>
          <p:cNvSpPr txBox="1">
            <a:spLocks/>
          </p:cNvSpPr>
          <p:nvPr/>
        </p:nvSpPr>
        <p:spPr>
          <a:xfrm>
            <a:off x="462116" y="306285"/>
            <a:ext cx="5240594" cy="477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LIST OF COMPONENTS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DB6F452-AC97-341D-FC7D-8CD482B75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834508"/>
              </p:ext>
            </p:extLst>
          </p:nvPr>
        </p:nvGraphicFramePr>
        <p:xfrm>
          <a:off x="838200" y="1825625"/>
          <a:ext cx="1051560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8587">
                  <a:extLst>
                    <a:ext uri="{9D8B030D-6E8A-4147-A177-3AD203B41FA5}">
                      <a16:colId xmlns:a16="http://schemas.microsoft.com/office/drawing/2014/main" val="875302302"/>
                    </a:ext>
                  </a:extLst>
                </a:gridCol>
                <a:gridCol w="4149213">
                  <a:extLst>
                    <a:ext uri="{9D8B030D-6E8A-4147-A177-3AD203B41FA5}">
                      <a16:colId xmlns:a16="http://schemas.microsoft.com/office/drawing/2014/main" val="25031503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7130289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32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(INR)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735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WROOM-32C 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&amp;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458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MAX30102 (Heart Rate + SpO2)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353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MPU6050 (6-Axis Gyro + Accelerometer)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9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NEO-6M GPS Module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539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LoRa SX1278 (for long range)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DHT22 (Temp &amp; Humidity)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Environment</a:t>
                      </a:r>
                      <a:endParaRPr lang="en-IN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093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Li-po Battery, Wires, Switch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&amp; Misc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53646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6FFB9F4-B7FB-3733-A912-69991FEA9564}"/>
              </a:ext>
            </a:extLst>
          </p:cNvPr>
          <p:cNvSpPr txBox="1"/>
          <p:nvPr/>
        </p:nvSpPr>
        <p:spPr>
          <a:xfrm>
            <a:off x="8809704" y="6224156"/>
            <a:ext cx="2802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Total Cost ≈ ₹3,100</a:t>
            </a:r>
          </a:p>
        </p:txBody>
      </p:sp>
    </p:spTree>
    <p:extLst>
      <p:ext uri="{BB962C8B-B14F-4D97-AF65-F5344CB8AC3E}">
        <p14:creationId xmlns:p14="http://schemas.microsoft.com/office/powerpoint/2010/main" val="184818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9B48-7325-1010-F70F-F91E15FA3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247138"/>
            <a:ext cx="8168148" cy="578772"/>
          </a:xfrm>
        </p:spPr>
        <p:txBody>
          <a:bodyPr>
            <a:noAutofit/>
          </a:bodyPr>
          <a:lstStyle/>
          <a:p>
            <a:r>
              <a:rPr 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PROJECT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B65EF6-B416-3293-8432-91161375F9D6}"/>
              </a:ext>
            </a:extLst>
          </p:cNvPr>
          <p:cNvSpPr/>
          <p:nvPr/>
        </p:nvSpPr>
        <p:spPr>
          <a:xfrm>
            <a:off x="314629" y="1448927"/>
            <a:ext cx="4640825" cy="51619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is designed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compact, body-worn 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minimal interference with soldier mobility and field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processing unit (ESP32)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LoRa module, and battery are enclosed in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rugged casing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 is worn: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strap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shoulder vest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waist belt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existing military communication devices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Stability during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from environmental exposure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 and replacement</a:t>
            </a:r>
          </a:p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99915-A4E3-055A-294E-01E013EA7631}"/>
              </a:ext>
            </a:extLst>
          </p:cNvPr>
          <p:cNvSpPr txBox="1"/>
          <p:nvPr/>
        </p:nvSpPr>
        <p:spPr>
          <a:xfrm>
            <a:off x="766916" y="987262"/>
            <a:ext cx="4640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Deployment Design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2169C43-C5FD-A660-75CB-0FFFFE95A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518508"/>
              </p:ext>
            </p:extLst>
          </p:nvPr>
        </p:nvGraphicFramePr>
        <p:xfrm>
          <a:off x="5220929" y="1448927"/>
          <a:ext cx="6690854" cy="5161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13">
                  <a:extLst>
                    <a:ext uri="{9D8B030D-6E8A-4147-A177-3AD203B41FA5}">
                      <a16:colId xmlns:a16="http://schemas.microsoft.com/office/drawing/2014/main" val="307302708"/>
                    </a:ext>
                  </a:extLst>
                </a:gridCol>
                <a:gridCol w="2084439">
                  <a:extLst>
                    <a:ext uri="{9D8B030D-6E8A-4147-A177-3AD203B41FA5}">
                      <a16:colId xmlns:a16="http://schemas.microsoft.com/office/drawing/2014/main" val="1453400179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2281971944"/>
                    </a:ext>
                  </a:extLst>
                </a:gridCol>
                <a:gridCol w="1991035">
                  <a:extLst>
                    <a:ext uri="{9D8B030D-6E8A-4147-A177-3AD203B41FA5}">
                      <a16:colId xmlns:a16="http://schemas.microsoft.com/office/drawing/2014/main" val="3809748265"/>
                    </a:ext>
                  </a:extLst>
                </a:gridCol>
              </a:tblGrid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REASON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989209"/>
                  </a:ext>
                </a:extLst>
              </a:tr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 Rate / SpO₂ (MAX30102)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Finger or wrist strap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pulse &amp; oxygen saturation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27121"/>
                  </a:ext>
                </a:extLst>
              </a:tr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and Humidity sensor(DHT 22)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 skin surface (chest/arm)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Reflects body temperature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737770"/>
                  </a:ext>
                </a:extLst>
              </a:tr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Motion sensor(MPU6050)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Inside main module (chest/waist)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posture, inactivity,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054634"/>
                  </a:ext>
                </a:extLst>
              </a:tr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Module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Top-facing module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sky visibility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039618"/>
                  </a:ext>
                </a:extLst>
              </a:tr>
              <a:tr h="86032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SX1278 Antenna Module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and elevated position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Long-range communication reliability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27130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6B4B7E5-1823-030E-1321-60BE3046F464}"/>
              </a:ext>
            </a:extLst>
          </p:cNvPr>
          <p:cNvSpPr txBox="1"/>
          <p:nvPr/>
        </p:nvSpPr>
        <p:spPr>
          <a:xfrm>
            <a:off x="6607277" y="906586"/>
            <a:ext cx="4817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Placement on Soldier Body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36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13A9A0-E93A-54CF-B538-1389B30BA59F}"/>
              </a:ext>
            </a:extLst>
          </p:cNvPr>
          <p:cNvSpPr/>
          <p:nvPr/>
        </p:nvSpPr>
        <p:spPr>
          <a:xfrm>
            <a:off x="186813" y="886599"/>
            <a:ext cx="5761704" cy="34117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Soldiers may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 stationary for long durations (2–3 hours)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surveillance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alert is generated solely based on inactivity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data is interpreted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trends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temperature variation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temperature &amp; humidity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avoids: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False alerts during guard duty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Misclassification of normal stationary behavior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6CFC98-93A4-C5F3-40CD-AF5F0F2D7B39}"/>
              </a:ext>
            </a:extLst>
          </p:cNvPr>
          <p:cNvSpPr/>
          <p:nvPr/>
        </p:nvSpPr>
        <p:spPr>
          <a:xfrm>
            <a:off x="6646608" y="4444180"/>
            <a:ext cx="3293806" cy="22343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processing ensures: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transmission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Reduced power consumption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design: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device weight kept minimal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long-duration deployment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7532F-0520-3517-DCE1-C21E962CD735}"/>
              </a:ext>
            </a:extLst>
          </p:cNvPr>
          <p:cNvSpPr/>
          <p:nvPr/>
        </p:nvSpPr>
        <p:spPr>
          <a:xfrm>
            <a:off x="6646608" y="1034083"/>
            <a:ext cx="4871884" cy="32643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abnormal conditions only when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parameters simultaneously deviate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drop or spike in heart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temperature rise relative to ambient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micro-movements (postural change)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Prolonged abnormal physiological state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under these combined conditions: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➡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 is transmitted via LoRa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58FB7-6C23-5DA2-EF9A-D5B048FB40D5}"/>
              </a:ext>
            </a:extLst>
          </p:cNvPr>
          <p:cNvSpPr txBox="1"/>
          <p:nvPr/>
        </p:nvSpPr>
        <p:spPr>
          <a:xfrm>
            <a:off x="668594" y="192802"/>
            <a:ext cx="47981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&amp; Inactivity Interpretation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C83EEC-EA55-5FAF-6AE1-84606F3205BB}"/>
              </a:ext>
            </a:extLst>
          </p:cNvPr>
          <p:cNvSpPr txBox="1"/>
          <p:nvPr/>
        </p:nvSpPr>
        <p:spPr>
          <a:xfrm>
            <a:off x="1366684" y="50997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&amp; Comfort Considerations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09A340-D167-3295-5E7D-B6646960AED3}"/>
              </a:ext>
            </a:extLst>
          </p:cNvPr>
          <p:cNvSpPr txBox="1"/>
          <p:nvPr/>
        </p:nvSpPr>
        <p:spPr>
          <a:xfrm>
            <a:off x="6646608" y="161609"/>
            <a:ext cx="57617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Unconscious or Medical Emergency Scenarios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733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5433-D361-EC9D-FAAF-5FAC33AED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600768" cy="893404"/>
          </a:xfrm>
        </p:spPr>
        <p:txBody>
          <a:bodyPr>
            <a:norm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CURRENT REAL PROBLEM (FIELD REALITY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D0E82-F4B1-D03C-1A5D-5A72BA822D77}"/>
              </a:ext>
            </a:extLst>
          </p:cNvPr>
          <p:cNvSpPr txBox="1"/>
          <p:nvPr/>
        </p:nvSpPr>
        <p:spPr>
          <a:xfrm>
            <a:off x="2851355" y="1473139"/>
            <a:ext cx="825909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Soldiers deployed in border and remote regions often operate in areas with: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Unreliable or unavailable GSM/internet connectivity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human supervision is not feasible due to: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Large distance between posts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Long guard durations (2–4 hours)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Health-related emergencies such as: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Heat stress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Sudden fatigue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Panic-induced abnormal vitals may go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undetected for long durations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high-end monitoring solutions are: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Cost-intensive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Power-hungry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Difficult to deploy at scale for all personnel</a:t>
            </a:r>
          </a:p>
        </p:txBody>
      </p:sp>
    </p:spTree>
    <p:extLst>
      <p:ext uri="{BB962C8B-B14F-4D97-AF65-F5344CB8AC3E}">
        <p14:creationId xmlns:p14="http://schemas.microsoft.com/office/powerpoint/2010/main" val="283624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1837-DD57-A9D9-6F11-1F7E42AC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306131"/>
            <a:ext cx="8767916" cy="93273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SIMPLE ML-BASED HEALTH RISK PREDICTION (EDGE DECISION TREE)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7AFABE-C331-F849-1F3C-462A2A8498CA}"/>
              </a:ext>
            </a:extLst>
          </p:cNvPr>
          <p:cNvSpPr txBox="1"/>
          <p:nvPr/>
        </p:nvSpPr>
        <p:spPr>
          <a:xfrm>
            <a:off x="3549445" y="1164134"/>
            <a:ext cx="762983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with Single-Parameter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rate varies due to: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Physical activity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Stress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Environmental heat/cold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 Temperature alone does not indicate medical risk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 alone cannot distinguish: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Standing alert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Resting</a:t>
            </a:r>
          </a:p>
          <a:p>
            <a:pPr lvl="1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Medical emergency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Decision Tree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running on the ESP32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physiological, environmental, and motion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risk assessment at the edge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Parameters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 Rate (bpm)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Ambient Temperature (°C)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Humidity (%)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Motion Status (Active / Inactive / Sudden fall)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duration of inactivity</a:t>
            </a:r>
          </a:p>
        </p:txBody>
      </p:sp>
    </p:spTree>
    <p:extLst>
      <p:ext uri="{BB962C8B-B14F-4D97-AF65-F5344CB8AC3E}">
        <p14:creationId xmlns:p14="http://schemas.microsoft.com/office/powerpoint/2010/main" val="283160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9848C-A649-C3A5-2A6F-C4EC4386EF00}"/>
              </a:ext>
            </a:extLst>
          </p:cNvPr>
          <p:cNvSpPr/>
          <p:nvPr/>
        </p:nvSpPr>
        <p:spPr>
          <a:xfrm>
            <a:off x="452284" y="681037"/>
            <a:ext cx="5407743" cy="5926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 (Example Rules)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Rate ↑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Temperature ↑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Humidity ↑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Motion = Active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stress / Panic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= No movement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Heart Rate abnormal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Time &gt; Threshold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medical emergency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= No movement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Heart Rate normal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stationary duty (No alert)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91298-110F-5EBD-524A-B7177348A0CC}"/>
              </a:ext>
            </a:extLst>
          </p:cNvPr>
          <p:cNvSpPr/>
          <p:nvPr/>
        </p:nvSpPr>
        <p:spPr>
          <a:xfrm>
            <a:off x="6489290" y="698090"/>
            <a:ext cx="4542504" cy="29103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Approach is Effective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false alerts.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Differentiates rest vs emergency.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 to environmental conditions.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no cloud or internet.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real-time border deployment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8D3988-16B2-C1ED-00FA-1BA89931F39D}"/>
              </a:ext>
            </a:extLst>
          </p:cNvPr>
          <p:cNvSpPr/>
          <p:nvPr/>
        </p:nvSpPr>
        <p:spPr>
          <a:xfrm>
            <a:off x="6489290" y="4001729"/>
            <a:ext cx="4719485" cy="24482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States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(No transmission)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Warning (Local monitoring)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(LoRa alert + GPS location)</a:t>
            </a:r>
          </a:p>
          <a:p>
            <a:pPr algn="ctr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672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055228C3-AE47-0BFD-A99E-AE8632C8208F}"/>
              </a:ext>
            </a:extLst>
          </p:cNvPr>
          <p:cNvSpPr/>
          <p:nvPr/>
        </p:nvSpPr>
        <p:spPr>
          <a:xfrm>
            <a:off x="678425" y="1710812"/>
            <a:ext cx="5624051" cy="475881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soldier monitoring solutions are designed for: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High reliability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High accuracy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systems often involve: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Complex communication infrastructure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Higher power consumption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approaches: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Increase battery usage during long deployments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High-end systems are: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Expensive to deploy for all personnel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More suitable for critical missions than large-scale routine monitoring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79EA4B0-501F-84B0-3BB2-1DE0EE0691C3}"/>
              </a:ext>
            </a:extLst>
          </p:cNvPr>
          <p:cNvSpPr/>
          <p:nvPr/>
        </p:nvSpPr>
        <p:spPr>
          <a:xfrm>
            <a:off x="6597445" y="1710811"/>
            <a:ext cx="5279922" cy="475881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explore a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low-power, cost-effective monitoring approach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reduce unnecessary data transmission using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event-based logic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utilize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 communication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remote areas without internet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combine multiple low-cost sensors for improved context awareness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system suitable for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long-duration field operation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D65B6-2407-1B03-AED3-CAF3D2DC2DD6}"/>
              </a:ext>
            </a:extLst>
          </p:cNvPr>
          <p:cNvSpPr txBox="1"/>
          <p:nvPr/>
        </p:nvSpPr>
        <p:spPr>
          <a:xfrm>
            <a:off x="678425" y="707940"/>
            <a:ext cx="5624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PRACTICAL CONSTRAINTS IN EXISTING SYSTEMS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C93CE-4929-399E-A6D2-0FC4F6B093D4}"/>
              </a:ext>
            </a:extLst>
          </p:cNvPr>
          <p:cNvSpPr txBox="1"/>
          <p:nvPr/>
        </p:nvSpPr>
        <p:spPr>
          <a:xfrm>
            <a:off x="6449962" y="707940"/>
            <a:ext cx="5279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HOW OUR PROJECT ADDRESSES THESE GAPS</a:t>
            </a:r>
            <a:endParaRPr lang="en-I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254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CD0D-5B97-C1F3-0E66-6ACC5F802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681037"/>
            <a:ext cx="2426110" cy="441120"/>
          </a:xfrm>
        </p:spPr>
        <p:txBody>
          <a:bodyPr>
            <a:no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A0AEA-C607-53C7-5286-3C0EAC25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8026"/>
            <a:ext cx="10515600" cy="4888937"/>
          </a:xfrm>
        </p:spPr>
        <p:txBody>
          <a:bodyPr>
            <a:normAutofit fontScale="92500" lnSpcReduction="10000"/>
          </a:bodyPr>
          <a:lstStyle/>
          <a:p>
            <a:pPr marL="571500" indent="-571500">
              <a:buFont typeface="+mj-lt"/>
              <a:buAutoNum type="romanUcPeriod"/>
            </a:pPr>
            <a:endParaRPr lang="en-IN" sz="1200" b="1" dirty="0"/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R. R. Jadhav, P. S. Patil, and S. R. Patil, “Wearable health monitoring system for soldiers using wireless sensor networks,” </a:t>
            </a:r>
            <a:r>
              <a:rPr lang="en-IN" sz="1200" i="1" dirty="0"/>
              <a:t>International Journal of Engineering Research and Technology</a:t>
            </a:r>
            <a:r>
              <a:rPr lang="en-IN" sz="1200" dirty="0"/>
              <a:t>, vol. 8, no. 4, pp. 227–231, Apr. 2019.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S. Thotakura, S. Movva, L. Apoorva, and J. Susmitha, “</a:t>
            </a:r>
            <a:r>
              <a:rPr lang="en-IN" sz="1200" dirty="0" err="1"/>
              <a:t>LifeLine</a:t>
            </a:r>
            <a:r>
              <a:rPr lang="en-IN" sz="1200" dirty="0"/>
              <a:t>: Smart soldier health monitoring and situational awareness system powered by ESP8266 and IoT integration,” in Proc. 2025 6th Int. Conf. Electronics and Sustainable Communication Systems (ICESC), Coimbatore, India, Sept. 2025, </a:t>
            </a:r>
            <a:r>
              <a:rPr lang="en-IN" sz="1200" dirty="0" err="1"/>
              <a:t>doi</a:t>
            </a:r>
            <a:r>
              <a:rPr lang="en-IN" sz="1200" dirty="0"/>
              <a:t>: 10.1109/ICESC65114.2025.11212282.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A. Aggarwal, V. Kumar, V. Singhal, and R. Yadav, “Soldier health and position tracking system,” in </a:t>
            </a:r>
            <a:r>
              <a:rPr lang="en-IN" sz="1200" i="1" dirty="0"/>
              <a:t>Proc. Int. Conf. Sustainable Emerging Innovations in Engineering and Technology (ICSEIET)</a:t>
            </a:r>
            <a:r>
              <a:rPr lang="en-IN" sz="1200" dirty="0"/>
              <a:t>, Ghaziabad, India, Sep. 2023, </a:t>
            </a:r>
            <a:r>
              <a:rPr lang="en-IN" sz="1200" dirty="0" err="1"/>
              <a:t>doi</a:t>
            </a:r>
            <a:r>
              <a:rPr lang="en-IN" sz="1200" dirty="0"/>
              <a:t>: 10.1109/ICSEIET58677.2023.10303559.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V. Patel, N. </a:t>
            </a:r>
            <a:r>
              <a:rPr lang="en-IN" sz="1200" dirty="0" err="1"/>
              <a:t>Yeware</a:t>
            </a:r>
            <a:r>
              <a:rPr lang="en-IN" sz="1200" dirty="0"/>
              <a:t>, B. Thombre, and A. </a:t>
            </a:r>
            <a:r>
              <a:rPr lang="en-IN" sz="1200" dirty="0" err="1"/>
              <a:t>Chopde</a:t>
            </a:r>
            <a:r>
              <a:rPr lang="en-IN" sz="1200" dirty="0"/>
              <a:t>, “Soldiers health monitoring and position tracking system,” in </a:t>
            </a:r>
            <a:r>
              <a:rPr lang="en-IN" sz="1200" i="1" dirty="0"/>
              <a:t>Proc. IEEE Int. Students’ Conf. Electrical, Electronics and Computer Science (SCEECS)</a:t>
            </a:r>
            <a:r>
              <a:rPr lang="en-IN" sz="1200" dirty="0"/>
              <a:t>, Bhopal, India, Feb. 2024, </a:t>
            </a:r>
            <a:r>
              <a:rPr lang="en-IN" sz="1200" dirty="0" err="1"/>
              <a:t>doi</a:t>
            </a:r>
            <a:r>
              <a:rPr lang="en-IN" sz="1200" dirty="0"/>
              <a:t>: 10.1109/SCEECS61402.2024.10482038.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V. S. Pund, S. K. </a:t>
            </a:r>
            <a:r>
              <a:rPr lang="en-IN" sz="1200" dirty="0" err="1"/>
              <a:t>Dongare</a:t>
            </a:r>
            <a:r>
              <a:rPr lang="en-IN" sz="1200" dirty="0"/>
              <a:t>, P. S. Amate, D. R. Jadhav, R. R. </a:t>
            </a:r>
            <a:r>
              <a:rPr lang="en-IN" sz="1200" dirty="0" err="1"/>
              <a:t>Bibave</a:t>
            </a:r>
            <a:r>
              <a:rPr lang="en-IN" sz="1200" dirty="0"/>
              <a:t>, and D. B. Pardeshi, “Soldier health monitoring and position tracking (E-vest),” in </a:t>
            </a:r>
            <a:r>
              <a:rPr lang="en-IN" sz="1200" i="1" dirty="0"/>
              <a:t>Proc. 4th Int. Conf. Electronics and Sustainable Communication Systems (ICESC)</a:t>
            </a:r>
            <a:r>
              <a:rPr lang="en-IN" sz="1200" dirty="0"/>
              <a:t>, Coimbatore, India, Jul. 2023, </a:t>
            </a:r>
            <a:r>
              <a:rPr lang="en-IN" sz="1200" dirty="0" err="1"/>
              <a:t>doi</a:t>
            </a:r>
            <a:r>
              <a:rPr lang="en-IN" sz="1200" dirty="0"/>
              <a:t>: 10.1109/ICESC57686.2023.10193616.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J. Swetha Priyanka, A. Deshpande, G. Raja Mourya, and A. Kumar, “Soldier safety using GPS and GSM modem,” in </a:t>
            </a:r>
            <a:r>
              <a:rPr lang="en-IN" sz="1200" i="1" dirty="0"/>
              <a:t>Proc. Third Int. Conf. Inventive Research in Computing Applications (ICIRCA)</a:t>
            </a:r>
            <a:r>
              <a:rPr lang="en-IN" sz="1200" dirty="0"/>
              <a:t>, Coimbatore, India, Sep. 2021, </a:t>
            </a:r>
            <a:r>
              <a:rPr lang="en-IN" sz="1200" dirty="0" err="1"/>
              <a:t>doi</a:t>
            </a:r>
            <a:r>
              <a:rPr lang="en-IN" sz="1200" dirty="0"/>
              <a:t>: 10.1109/ICIRCA51532.2021.9545025.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S. Sharmila Devi, S. Lakshana, S. V. Pavithra, and S. Ruthva Roshini, “LoRa based smart soldier jacket,” in </a:t>
            </a:r>
            <a:r>
              <a:rPr lang="en-IN" sz="1200" i="1" dirty="0"/>
              <a:t>Proc. Second Int. Conf. Augmented Intelligence and Sustainable Systems (ICAISS)</a:t>
            </a:r>
            <a:r>
              <a:rPr lang="en-IN" sz="1200" dirty="0"/>
              <a:t>, Trichy, India, Aug. 2023, </a:t>
            </a:r>
            <a:r>
              <a:rPr lang="en-IN" sz="1200" dirty="0" err="1"/>
              <a:t>doi</a:t>
            </a:r>
            <a:r>
              <a:rPr lang="en-IN" sz="1200" dirty="0"/>
              <a:t>: 10.1109/ICAISS58487.2023.10250649.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D. G. Fernald, “U.S. Army software system safety process, case-study, and success stories,” in </a:t>
            </a:r>
            <a:r>
              <a:rPr lang="en-IN" sz="1200" i="1" dirty="0"/>
              <a:t>Proc. Annu. Reliability and Maintainability Symp. (RAMS)</a:t>
            </a:r>
            <a:r>
              <a:rPr lang="en-IN" sz="1200" dirty="0"/>
              <a:t>, Palm Springs, CA, USA, Jan. 2020, pp. 1–6, </a:t>
            </a:r>
            <a:r>
              <a:rPr lang="en-IN" sz="1200" dirty="0" err="1"/>
              <a:t>doi</a:t>
            </a:r>
            <a:r>
              <a:rPr lang="en-IN" sz="1200" dirty="0"/>
              <a:t>: 10.1109/RAMS48030.2020.9153623.</a:t>
            </a:r>
          </a:p>
          <a:p>
            <a:pPr marL="571500" lvl="0" indent="-571500" fontAlgn="base">
              <a:lnSpc>
                <a:spcPct val="120000"/>
              </a:lnSpc>
              <a:buFont typeface="+mj-lt"/>
              <a:buAutoNum type="romanUcPeriod"/>
            </a:pPr>
            <a:r>
              <a:rPr lang="en-IN" sz="1200" dirty="0"/>
              <a:t>B. Veerasamy, B. Gayathri Durga, T. Harish Muthu Kumaran, </a:t>
            </a:r>
            <a:r>
              <a:rPr lang="en-IN" sz="1200" dirty="0" err="1"/>
              <a:t>Innamuri</a:t>
            </a:r>
            <a:r>
              <a:rPr lang="en-IN" sz="1200" dirty="0"/>
              <a:t> Venkata Devika, and M. Jeya Akshaya, “Soldier health detection and position tracking system using </a:t>
            </a:r>
            <a:r>
              <a:rPr lang="en-IN" sz="1200" dirty="0" err="1"/>
              <a:t>LoRaWAN</a:t>
            </a:r>
            <a:r>
              <a:rPr lang="en-IN" sz="1200" dirty="0"/>
              <a:t> sensor for low power and long-range access,” in </a:t>
            </a:r>
            <a:r>
              <a:rPr lang="en-IN" sz="1200" i="1" dirty="0"/>
              <a:t>Proc. 7th Int. Conf. Trends in Electronics and Informatics (ICOEI)</a:t>
            </a:r>
            <a:r>
              <a:rPr lang="en-IN" sz="1200" dirty="0"/>
              <a:t>, Tirunelveli, India, Apr. 2023, pp. 1–6, </a:t>
            </a:r>
            <a:r>
              <a:rPr lang="en-IN" sz="1200" dirty="0" err="1"/>
              <a:t>doi</a:t>
            </a:r>
            <a:r>
              <a:rPr lang="en-IN" sz="1200" dirty="0"/>
              <a:t>: 10.1109/ICOEI56765.2023.10125644.</a:t>
            </a:r>
          </a:p>
        </p:txBody>
      </p:sp>
    </p:spTree>
    <p:extLst>
      <p:ext uri="{BB962C8B-B14F-4D97-AF65-F5344CB8AC3E}">
        <p14:creationId xmlns:p14="http://schemas.microsoft.com/office/powerpoint/2010/main" val="3792348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1E40B-5A73-C575-3AFD-B7F9DC4A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4B9A4-9BF9-4D29-8A4A-F446B02A5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14633" y="2497883"/>
            <a:ext cx="4188542" cy="503686"/>
          </a:xfrm>
        </p:spPr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26510-C46C-DD15-9C92-03393997A9A2}"/>
              </a:ext>
            </a:extLst>
          </p:cNvPr>
          <p:cNvSpPr txBox="1"/>
          <p:nvPr/>
        </p:nvSpPr>
        <p:spPr>
          <a:xfrm>
            <a:off x="3146322" y="3052160"/>
            <a:ext cx="87310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practical and affordable soldier safety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health, motion, and location monitoring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edge intelligence and LoRa communication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real-world deployment 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E83A0-8211-6A76-2FEB-B1054A8A92AC}"/>
              </a:ext>
            </a:extLst>
          </p:cNvPr>
          <p:cNvSpPr txBox="1"/>
          <p:nvPr/>
        </p:nvSpPr>
        <p:spPr>
          <a:xfrm>
            <a:off x="3146322" y="69526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LoRa communication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 profiles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or kinetic energy harvesting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Base-station dashboard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43855-17F4-E8A4-429B-3A0D027D068F}"/>
              </a:ext>
            </a:extLst>
          </p:cNvPr>
          <p:cNvSpPr txBox="1"/>
          <p:nvPr/>
        </p:nvSpPr>
        <p:spPr>
          <a:xfrm>
            <a:off x="344129" y="8924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3D07CCEE-AAF8-0F9F-5010-494D9774EC4C}"/>
              </a:ext>
            </a:extLst>
          </p:cNvPr>
          <p:cNvSpPr/>
          <p:nvPr/>
        </p:nvSpPr>
        <p:spPr>
          <a:xfrm>
            <a:off x="1730477" y="4886987"/>
            <a:ext cx="8731045" cy="145517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work focuses on optimizing power consumption and deployment cost, rather than competing with existing high-end military systems.”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72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2024</Words>
  <Application>Microsoft Office PowerPoint</Application>
  <PresentationFormat>Widescreen</PresentationFormat>
  <Paragraphs>316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OBJECTIVE</vt:lpstr>
      <vt:lpstr>PROPOSED SYSTEM OVERVIEW</vt:lpstr>
      <vt:lpstr>WHY NOT GSM?</vt:lpstr>
      <vt:lpstr>MOTION  VS  LOCATION</vt:lpstr>
      <vt:lpstr>WHAT IF SOLDIER IS IN REST STATE/SLEEPING?</vt:lpstr>
      <vt:lpstr>PowerPoint Presentation</vt:lpstr>
      <vt:lpstr>IMPLEMENTATION OF PROJECT</vt:lpstr>
      <vt:lpstr>PowerPoint Presentation</vt:lpstr>
      <vt:lpstr>CURRENT REAL PROBLEM (FIELD REALITY</vt:lpstr>
      <vt:lpstr>SIMPLE ML-BASED HEALTH RISK PREDICTION (EDGE DECISION TREE)</vt:lpstr>
      <vt:lpstr>PowerPoint Presentation</vt:lpstr>
      <vt:lpstr>PowerPoint Presentation</vt:lpstr>
      <vt:lpstr>REFERENCE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Kamaleshwaran M</dc:creator>
  <cp:lastModifiedBy>Kamaleshwaran M</cp:lastModifiedBy>
  <cp:revision>9</cp:revision>
  <dcterms:created xsi:type="dcterms:W3CDTF">2026-01-08T00:32:12Z</dcterms:created>
  <dcterms:modified xsi:type="dcterms:W3CDTF">2026-01-16T11:44:09Z</dcterms:modified>
</cp:coreProperties>
</file>